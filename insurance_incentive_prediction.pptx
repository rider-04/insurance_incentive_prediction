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Revenue (conceptual)</c:v>
                </c:pt>
              </c:strCache>
            </c:strRef>
          </c:tx>
          <c:spPr>
            <a:solidFill>
              <a:srgbClr val="00C2A8"/>
            </a:solidFill>
            <a:ln w="3175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500</c:v>
                  </c:pt>
                  <c:pt idx="1">
                    <c:v>1000</c:v>
                  </c:pt>
                  <c:pt idx="2">
                    <c:v>1500</c:v>
                  </c:pt>
                  <c:pt idx="3">
                    <c:v>2000</c:v>
                  </c:pt>
                  <c:pt idx="4">
                    <c:v>2500</c:v>
                  </c:pt>
                  <c:pt idx="5">
                    <c:v>3000</c:v>
                  </c:pt>
                  <c:pt idx="6">
                    <c:v>3500</c:v>
                  </c:pt>
                  <c:pt idx="7">
                    <c:v>4000</c:v>
                  </c:pt>
                  <c:pt idx="8">
                    <c:v>4500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3100</c:v>
                </c:pt>
                <c:pt idx="1">
                  <c:v>4450</c:v>
                </c:pt>
                <c:pt idx="2">
                  <c:v>5450</c:v>
                </c:pt>
                <c:pt idx="3">
                  <c:v>6100</c:v>
                </c:pt>
                <c:pt idx="4">
                  <c:v>6350</c:v>
                </c:pt>
                <c:pt idx="5">
                  <c:v>6280</c:v>
                </c:pt>
                <c:pt idx="6">
                  <c:v>5950</c:v>
                </c:pt>
                <c:pt idx="7">
                  <c:v>5500</c:v>
                </c:pt>
                <c:pt idx="8">
                  <c:v>4950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A9B4D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A9B4D6"/>
                    </a:solidFill>
                    <a:latin typeface="Arial"/>
                  </a:rPr>
                  <a:t>Incentive (₹)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23A8E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4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16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A9B4D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A9B4D6"/>
                    </a:solidFill>
                    <a:latin typeface="Arial"/>
                  </a:rPr>
                  <a:t>Expected Revenue (₹)</a:t>
                </a:r>
              </a:p>
            </c:rich>
          </c:tx>
          <c:layout/>
          <c:overlay val="0"/>
        </c:title>
        <c:numFmt formatCode="₹#,##0" sourceLinked="0"/>
        <c:majorTickMark val="out"/>
        <c:minorTickMark val="none"/>
        <c:tickLblPos val="nextTo"/>
        <c:spPr>
          <a:ln w="12700" cap="flat">
            <a:solidFill>
              <a:srgbClr val="323A8E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4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image" Target="../media/image-4-2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3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insurance-incentive-prediction.onrender.com/predict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insurance-incentive-prediction.vercel.app/" TargetMode="External"/><Relationship Id="rId10" Type="http://schemas.openxmlformats.org/officeDocument/2006/relationships/hyperlink" Target="https://insurance-incentive-prediction.onrender.com/predict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9" Type="http://schemas.openxmlformats.org/officeDocument/2006/relationships/image" Target="../media/image-9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6.png"/><Relationship Id="rId7" Type="http://schemas.openxmlformats.org/officeDocument/2006/relationships/image" Target="../media/image-12-2.png"/><Relationship Id="rId8" Type="http://schemas.openxmlformats.org/officeDocument/2006/relationships/image" Target="../media/image-12-2.png"/><Relationship Id="rId9" Type="http://schemas.openxmlformats.org/officeDocument/2006/relationships/image" Target="../media/image-12-2.png"/><Relationship Id="rId10" Type="http://schemas.openxmlformats.org/officeDocument/2006/relationships/image" Target="../media/image-12-2.png"/><Relationship Id="rId11" Type="http://schemas.openxmlformats.org/officeDocument/2006/relationships/image" Target="../media/image-12-2.png"/><Relationship Id="rId12" Type="http://schemas.openxmlformats.org/officeDocument/2006/relationships/image" Target="../media/image-12-2.png"/><Relationship Id="rId13" Type="http://schemas.openxmlformats.org/officeDocument/2006/relationships/image" Target="../media/image-12-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insurance-incentive-prediction.vercel.app/" TargetMode="External"/><Relationship Id="rId10" Type="http://schemas.openxmlformats.org/officeDocument/2006/relationships/hyperlink" Target="https://insurance-incentive-prediction.onrender.com/predict" TargetMode="External"/><Relationship Id="rId12" Type="http://schemas.openxmlformats.org/officeDocument/2006/relationships/hyperlink" Target="https://github.com/Rider-04/Insurance_incentive_prediction.git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9" Type="http://schemas.openxmlformats.org/officeDocument/2006/relationships/image" Target="../media/image-13-8.png"/><Relationship Id="rId11" Type="http://schemas.openxmlformats.org/officeDocument/2006/relationships/image" Target="../media/image-13-9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4" name="Image 0" descr="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 ·  MACHINE LEARNING  ·  REVENUE OPTIMIZATION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Incentive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41248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system that predicts policy renewal and optimizes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incentives to maximize expected net revenue.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161C4A"/>
          </a:solidFill>
          <a:ln w="9525">
            <a:solidFill>
              <a:srgbClr val="32398A"/>
            </a:solidFill>
            <a:prstDash val="solid"/>
          </a:ln>
        </p:spPr>
      </p:sp>
      <p:pic>
        <p:nvPicPr>
          <p:cNvPr id="9" name="Image 1" descr="icons/brain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2943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50749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application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30168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161C4A"/>
          </a:solidFill>
          <a:ln w="9525">
            <a:solidFill>
              <a:srgbClr val="32398A"/>
            </a:solidFill>
            <a:prstDash val="solid"/>
          </a:ln>
        </p:spPr>
      </p:sp>
      <p:pic>
        <p:nvPicPr>
          <p:cNvPr id="12" name="Image 2" descr="icons/server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52943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51960" y="50749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19088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161C4A"/>
          </a:solidFill>
          <a:ln w="9525">
            <a:solidFill>
              <a:srgbClr val="32398A"/>
            </a:solidFill>
            <a:prstDash val="solid"/>
          </a:ln>
        </p:spPr>
      </p:sp>
      <p:pic>
        <p:nvPicPr>
          <p:cNvPr id="15" name="Image 3" descr="icons/glob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29437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40880" y="50749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frontend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208008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161C4A"/>
          </a:solidFill>
          <a:ln w="9525">
            <a:solidFill>
              <a:srgbClr val="32398A"/>
            </a:solidFill>
            <a:prstDash val="solid"/>
          </a:ln>
        </p:spPr>
      </p:sp>
      <p:pic>
        <p:nvPicPr>
          <p:cNvPr id="18" name="Image 4" descr="icons/balanc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5294376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29800" y="50749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optimization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41248" y="6263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Sharma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412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Renewals drive revenue — incentives are costly if mistimed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rely on agents to encourage policyholders to renew. Offering an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can raise the renewal probability — but the size of that incentive is a balancing 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FBEFEA"/>
          </a:solidFill>
          <a:ln/>
        </p:spPr>
      </p:sp>
      <p:pic>
        <p:nvPicPr>
          <p:cNvPr id="7" name="Image 0" descr="icons/gau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34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79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little incentive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32918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effort stays low, renewal probability barely improves, and the policy is more likely to lapse.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24231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697480"/>
            <a:ext cx="548640" cy="548640"/>
          </a:xfrm>
          <a:prstGeom prst="ellipse">
            <a:avLst/>
          </a:prstGeom>
          <a:solidFill>
            <a:srgbClr val="FBEFEA"/>
          </a:solidFill>
          <a:ln/>
        </p:spPr>
      </p:sp>
      <p:pic>
        <p:nvPicPr>
          <p:cNvPr id="12" name="Image 1" descr="icons/rupe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834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679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incentive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309360" y="32918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probability improves, but the incentive cost erodes — or exceeds — the revenue it was meant to protect.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663440"/>
            <a:ext cx="104241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16" name="Image 2" descr="icons/bulb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663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828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508760" y="512064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incentive should be offered to maximize expected net revenue?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connected components form the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incentive modeling, optimization, and a web application work together end to 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7" name="Image 0" descr="icons/brai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7249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each policy’s renewal probability from historical and policy data.</a:t>
            </a:r>
            <a:endParaRPr lang="en-US" sz="1150" dirty="0"/>
          </a:p>
        </p:txBody>
      </p:sp>
      <p:pic>
        <p:nvPicPr>
          <p:cNvPr id="11" name="Image 1" descr="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90448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2900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0332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4" name="Image 2" descr="icons/handshak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27249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703320" y="3383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Incentive Modeling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703320" y="402336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how agent effort responds as the incentive amount changes.</a:t>
            </a:r>
            <a:endParaRPr lang="en-US" sz="1150" dirty="0"/>
          </a:p>
        </p:txBody>
      </p:sp>
      <p:pic>
        <p:nvPicPr>
          <p:cNvPr id="18" name="Image 3" descr="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04488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1792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9224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21" name="Image 4" descr="icons/balanc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72491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5528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492240" y="3383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Optimization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492240" y="402336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range of incentive values to find the one with highest expected revenue.</a:t>
            </a:r>
            <a:endParaRPr lang="en-US" sz="1150" dirty="0"/>
          </a:p>
        </p:txBody>
      </p:sp>
      <p:pic>
        <p:nvPicPr>
          <p:cNvPr id="25" name="Image 5" descr="icons/arrowrigh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08" y="3904488"/>
            <a:ext cx="237744" cy="23774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0684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28" name="Image 6" descr="icons/glob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2724912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74420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9281160" y="3383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9281160" y="402336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user enter policy details and instantly view the recommendation.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user input to a revenue-optimized recommendation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6" name="Image 0" descr="icons/us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3232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policy details</a:t>
            </a:r>
            <a:endParaRPr lang="en-US" sz="850" dirty="0"/>
          </a:p>
        </p:txBody>
      </p:sp>
      <p:pic>
        <p:nvPicPr>
          <p:cNvPr id="9" name="Image 1" descr="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3040380"/>
            <a:ext cx="146304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20824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372868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12" name="Image 2" descr="icons/glob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596" y="23317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93976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093976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850" dirty="0"/>
          </a:p>
        </p:txBody>
      </p:sp>
      <p:pic>
        <p:nvPicPr>
          <p:cNvPr id="15" name="Image 3" descr="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040380"/>
            <a:ext cx="146304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401568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753612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18" name="Image 4" descr="icons/server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340" y="233172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474720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3474720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received</a:t>
            </a:r>
            <a:endParaRPr lang="en-US" sz="850" dirty="0"/>
          </a:p>
        </p:txBody>
      </p:sp>
      <p:pic>
        <p:nvPicPr>
          <p:cNvPr id="21" name="Image 5" descr="icons/arrowrigh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3040380"/>
            <a:ext cx="146304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782312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134356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24" name="Image 6" descr="icons/filter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4084" y="2331720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855464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4855464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imputation</a:t>
            </a:r>
            <a:endParaRPr lang="en-US" sz="850" dirty="0"/>
          </a:p>
        </p:txBody>
      </p:sp>
      <p:pic>
        <p:nvPicPr>
          <p:cNvPr id="27" name="Image 7" descr="icons/arrowright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608" y="3040380"/>
            <a:ext cx="146304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163056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515100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30" name="Image 8" descr="icons/brain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828" y="2331720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236208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Model</a:t>
            </a:r>
            <a:endParaRPr lang="en-US" sz="1050" dirty="0"/>
          </a:p>
        </p:txBody>
      </p:sp>
      <p:sp>
        <p:nvSpPr>
          <p:cNvPr id="32" name="Text 21"/>
          <p:cNvSpPr/>
          <p:nvPr/>
        </p:nvSpPr>
        <p:spPr>
          <a:xfrm>
            <a:off x="6236208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probability</a:t>
            </a:r>
            <a:endParaRPr lang="en-US" sz="850" dirty="0"/>
          </a:p>
        </p:txBody>
      </p:sp>
      <p:pic>
        <p:nvPicPr>
          <p:cNvPr id="33" name="Image 9" descr="icons/arrowright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8352" y="3040380"/>
            <a:ext cx="146304" cy="18288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7543800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7895844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36" name="Image 10" descr="icons/balance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5572" y="2331720"/>
            <a:ext cx="292608" cy="29260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616952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Optimization</a:t>
            </a:r>
            <a:endParaRPr lang="en-US" sz="1050" dirty="0"/>
          </a:p>
        </p:txBody>
      </p:sp>
      <p:sp>
        <p:nvSpPr>
          <p:cNvPr id="38" name="Text 25"/>
          <p:cNvSpPr/>
          <p:nvPr/>
        </p:nvSpPr>
        <p:spPr>
          <a:xfrm>
            <a:off x="7616952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→ ₹4,500 tested</a:t>
            </a:r>
            <a:endParaRPr lang="en-US" sz="850" dirty="0"/>
          </a:p>
        </p:txBody>
      </p:sp>
      <p:pic>
        <p:nvPicPr>
          <p:cNvPr id="39" name="Image 11" descr="icons/arrowright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9096" y="3040380"/>
            <a:ext cx="146304" cy="182880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8924544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9276588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42" name="Image 12" descr="icons/rupee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6316" y="2331720"/>
            <a:ext cx="292608" cy="29260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8997696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Calc</a:t>
            </a:r>
            <a:endParaRPr lang="en-US" sz="1050" dirty="0"/>
          </a:p>
        </p:txBody>
      </p:sp>
      <p:sp>
        <p:nvSpPr>
          <p:cNvPr id="44" name="Text 29"/>
          <p:cNvSpPr/>
          <p:nvPr/>
        </p:nvSpPr>
        <p:spPr>
          <a:xfrm>
            <a:off x="8997696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net revenue</a:t>
            </a:r>
            <a:endParaRPr lang="en-US" sz="850" dirty="0"/>
          </a:p>
        </p:txBody>
      </p:sp>
      <p:pic>
        <p:nvPicPr>
          <p:cNvPr id="45" name="Image 13" descr="icons/arrowright_tea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9840" y="3040380"/>
            <a:ext cx="146304" cy="182880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10305288" y="1965960"/>
            <a:ext cx="1216152" cy="2331720"/>
          </a:xfrm>
          <a:prstGeom prst="roundRect">
            <a:avLst>
              <a:gd name="adj" fmla="val 6767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10657332" y="2221992"/>
            <a:ext cx="512064" cy="512064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48" name="Image 14" descr="icons/check_tea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67060" y="2331720"/>
            <a:ext cx="292608" cy="29260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10378440" y="28346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050" dirty="0"/>
          </a:p>
        </p:txBody>
      </p:sp>
      <p:sp>
        <p:nvSpPr>
          <p:cNvPr id="50" name="Text 33"/>
          <p:cNvSpPr/>
          <p:nvPr/>
        </p:nvSpPr>
        <p:spPr>
          <a:xfrm>
            <a:off x="10378440" y="3429000"/>
            <a:ext cx="106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website</a:t>
            </a:r>
            <a:endParaRPr lang="en-US" sz="850" dirty="0"/>
          </a:p>
        </p:txBody>
      </p:sp>
      <p:sp>
        <p:nvSpPr>
          <p:cNvPr id="51" name="Text 34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request/response cycle — the user never leaves the website.</a:t>
            </a:r>
            <a:endParaRPr lang="en-US" sz="1250" dirty="0"/>
          </a:p>
        </p:txBody>
      </p:sp>
      <p:pic>
        <p:nvPicPr>
          <p:cNvPr id="52" name="Image 15" descr="icons/code_ic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" y="5349240"/>
            <a:ext cx="274320" cy="27432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2157984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pic>
        <p:nvPicPr>
          <p:cNvPr id="54" name="Image 16" descr="icons/brain_ic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11880" y="5349240"/>
            <a:ext cx="274320" cy="27432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3941064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pic>
        <p:nvPicPr>
          <p:cNvPr id="56" name="Image 17" descr="icons/server_ic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94960" y="5349240"/>
            <a:ext cx="274320" cy="274320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5724144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pic>
        <p:nvPicPr>
          <p:cNvPr id="58" name="Image 18" descr="icons/cloud_ic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8040" y="5349240"/>
            <a:ext cx="274320" cy="274320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7507224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pic>
        <p:nvPicPr>
          <p:cNvPr id="60" name="Image 19" descr="icons/globe_ic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1120" y="5349240"/>
            <a:ext cx="274320" cy="274320"/>
          </a:xfrm>
          <a:prstGeom prst="rect">
            <a:avLst/>
          </a:prstGeom>
        </p:spPr>
      </p:pic>
      <p:sp>
        <p:nvSpPr>
          <p:cNvPr id="61" name="Text 39"/>
          <p:cNvSpPr/>
          <p:nvPr/>
        </p:nvSpPr>
        <p:spPr>
          <a:xfrm>
            <a:off x="9290304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62" name="Text 4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63" name="Text 4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engineering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cons/filt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47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using a dedicated trained imputer, serialized as: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14400" y="2697480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EEF2F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Parth_Imputer.pkl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383280"/>
            <a:ext cx="5029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11" name="Image 1" descr="icons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935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538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14400" y="3950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feature, Total_late, is created by combining late-payment counts: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4400" y="4370832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EEF2FC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Total_late = Count_3-6m + Count_6-12m + Count_12m+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9320" y="16916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Features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989320" y="210312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18" name="Image 2" descr="icons/rupe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22402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17336" y="253288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paid by cash / credit (%)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757160" y="210312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21" name="Image 3" descr="icons/us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176" y="22402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85176" y="253288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(in days)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9525000" y="210312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24" name="Image 4" descr="icons/rupe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3016" y="224028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53016" y="253288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989320" y="315468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27" name="Image 5" descr="icons/gaug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329184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117336" y="358444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 history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7757160" y="315468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30" name="Image 6" descr="icons/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5176" y="329184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885176" y="358444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score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9525000" y="315468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33" name="Image 7" descr="icons/layers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3016" y="3291840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653016" y="358444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premiums paid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5989320" y="420624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36" name="Image 8" descr="icons/exchang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36" y="4343400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117336" y="463600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channel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7757160" y="420624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39" name="Image 9" descr="icons/globe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5176" y="4343400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885176" y="463600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area type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9525000" y="4206240"/>
            <a:ext cx="163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42" name="Image 10" descr="icons/rupee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3016" y="4343400"/>
            <a:ext cx="256032" cy="25603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653016" y="4636008"/>
            <a:ext cx="137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</p:txBody>
      </p:sp>
      <p:sp>
        <p:nvSpPr>
          <p:cNvPr id="44" name="Shape 31"/>
          <p:cNvSpPr/>
          <p:nvPr/>
        </p:nvSpPr>
        <p:spPr>
          <a:xfrm>
            <a:off x="640080" y="516636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pic>
        <p:nvPicPr>
          <p:cNvPr id="45" name="Image 11" descr="icons/layers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440680"/>
            <a:ext cx="329184" cy="32918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1417320" y="516636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engineered features feed directly into the renewal-probability model on the next slide.</a:t>
            </a:r>
            <a:endParaRPr lang="en-US" sz="1250" dirty="0"/>
          </a:p>
        </p:txBody>
      </p:sp>
      <p:sp>
        <p:nvSpPr>
          <p:cNvPr id="47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pipeline’s job is singular: estimate the probability that a policy renews.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48031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5915" y="2450592"/>
            <a:ext cx="548640" cy="5486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787" y="256946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Policy 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 from the API request</a:t>
            </a:r>
            <a:endParaRPr lang="en-US" sz="950" dirty="0"/>
          </a:p>
        </p:txBody>
      </p:sp>
      <p:pic>
        <p:nvPicPr>
          <p:cNvPr id="10" name="Image 1" descr="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822" y="3058668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40430" y="2194560"/>
            <a:ext cx="248031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06265" y="2450592"/>
            <a:ext cx="548640" cy="5486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3" name="Image 2" descr="icons/filt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137" y="256946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759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577590" y="3520440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via Parth_Imputer.pkl</a:t>
            </a:r>
            <a:endParaRPr lang="en-US" sz="950" dirty="0"/>
          </a:p>
        </p:txBody>
      </p:sp>
      <p:pic>
        <p:nvPicPr>
          <p:cNvPr id="16" name="Image 3" descr="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3058668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40780" y="2194560"/>
            <a:ext cx="248031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06615" y="2450592"/>
            <a:ext cx="548640" cy="548640"/>
          </a:xfrm>
          <a:prstGeom prst="ellipse">
            <a:avLst/>
          </a:prstGeom>
          <a:solidFill>
            <a:srgbClr val="242C6E"/>
          </a:solidFill>
          <a:ln/>
        </p:spPr>
      </p:sp>
      <p:pic>
        <p:nvPicPr>
          <p:cNvPr id="19" name="Image 4" descr="icons/brain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87" y="2569464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7794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ML Pipeline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377940" y="3520440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renewal_pipeline.pkl</a:t>
            </a:r>
            <a:endParaRPr lang="en-US" sz="950" dirty="0"/>
          </a:p>
        </p:txBody>
      </p:sp>
      <p:pic>
        <p:nvPicPr>
          <p:cNvPr id="22" name="Image 5" descr="icons/arrowrigh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522" y="3058668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41130" y="2194560"/>
            <a:ext cx="248031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006965" y="2450592"/>
            <a:ext cx="548640" cy="5486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5" name="Image 6" descr="icons/gaug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5837" y="2569464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78290" y="31546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 Probability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9178290" y="3520440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P(Renewal) returned downstream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2651760" y="4572000"/>
            <a:ext cx="6858000" cy="1051560"/>
          </a:xfrm>
          <a:prstGeom prst="roundRect">
            <a:avLst>
              <a:gd name="adj" fmla="val 8696"/>
            </a:avLst>
          </a:prstGeom>
          <a:solidFill>
            <a:srgbClr val="EAF9F6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2651760" y="457200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 Probability  =  P(Renewal)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exact algorithm and performance metrics are implementation details not included here.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doesn’t stop at predicting renewal — it searches for the incentive that maximizes expected revenue, in the range ₹500–₹4,500.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13432"/>
            <a:ext cx="3041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Effort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697480"/>
            <a:ext cx="3041904" cy="658368"/>
          </a:xfrm>
          <a:prstGeom prst="roundRect">
            <a:avLst>
              <a:gd name="adj" fmla="val 8333"/>
            </a:avLst>
          </a:prstGeom>
          <a:solidFill>
            <a:srgbClr val="141A4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289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effort(I) = 10 × (1 − e^(−I / 400))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342900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rises with incentive I, with diminishing returns.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8640" y="214884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9808" y="2313432"/>
            <a:ext cx="3041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Contribution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59808" y="2697480"/>
            <a:ext cx="3041904" cy="658368"/>
          </a:xfrm>
          <a:prstGeom prst="roundRect">
            <a:avLst>
              <a:gd name="adj" fmla="val 8333"/>
            </a:avLst>
          </a:prstGeom>
          <a:solidFill>
            <a:srgbClr val="141A46"/>
          </a:solidFill>
          <a:ln/>
        </p:spPr>
      </p:sp>
      <p:sp>
        <p:nvSpPr>
          <p:cNvPr id="13" name="Text 11"/>
          <p:cNvSpPr/>
          <p:nvPr/>
        </p:nvSpPr>
        <p:spPr>
          <a:xfrm>
            <a:off x="4632960" y="2697480"/>
            <a:ext cx="289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agent_proba(effort) = 0.20 × (1 − e^(−effort / 5))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59808" y="342900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converts to an added renewal-probability boost.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77200" y="214884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2313432"/>
            <a:ext cx="3041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8368" y="2697480"/>
            <a:ext cx="3041904" cy="658368"/>
          </a:xfrm>
          <a:prstGeom prst="roundRect">
            <a:avLst>
              <a:gd name="adj" fmla="val 8333"/>
            </a:avLst>
          </a:prstGeom>
          <a:solidFill>
            <a:srgbClr val="141A46"/>
          </a:solidFill>
          <a:ln/>
        </p:spPr>
      </p:sp>
      <p:sp>
        <p:nvSpPr>
          <p:cNvPr id="18" name="Text 16"/>
          <p:cNvSpPr/>
          <p:nvPr/>
        </p:nvSpPr>
        <p:spPr>
          <a:xfrm>
            <a:off x="8351520" y="2697480"/>
            <a:ext cx="289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= premium × (base_p + agent_p) − incentive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78368" y="3429000"/>
            <a:ext cx="304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after subtracting the incentive cost.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expected-revenue curve vs. incentive amount</a:t>
            </a:r>
            <a:endParaRPr lang="en-US" sz="11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40080" y="4480560"/>
          <a:ext cx="68580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818120" y="448056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161C4A"/>
          </a:solidFill>
          <a:ln w="12700">
            <a:solidFill>
              <a:srgbClr val="323A8E"/>
            </a:solidFill>
            <a:prstDash val="solid"/>
          </a:ln>
        </p:spPr>
      </p:sp>
      <p:pic>
        <p:nvPicPr>
          <p:cNvPr id="23" name="Image 0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66344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485632" y="4645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092440" y="5029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incentive that produces the highest expected revenue — compared against the no-incentive baseline — is recommended.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40080" y="62636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curve — shape only, not measured project data.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&amp; prediction endpoint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Responsibilities</a:t>
            </a:r>
            <a:endParaRPr lang="en-US" sz="1400" dirty="0"/>
          </a:p>
        </p:txBody>
      </p:sp>
      <p:pic>
        <p:nvPicPr>
          <p:cNvPr id="8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32888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514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policy records</a:t>
            </a:r>
            <a:endParaRPr lang="en-US" sz="1150" dirty="0"/>
          </a:p>
        </p:txBody>
      </p:sp>
      <p:pic>
        <p:nvPicPr>
          <p:cNvPr id="10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493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8666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 data</a:t>
            </a:r>
            <a:endParaRPr lang="en-US" sz="1150" dirty="0"/>
          </a:p>
        </p:txBody>
      </p:sp>
      <p:pic>
        <p:nvPicPr>
          <p:cNvPr id="12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36976"/>
            <a:ext cx="173736" cy="1737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preprocessing</a:t>
            </a:r>
            <a:endParaRPr lang="en-US" sz="1150" dirty="0"/>
          </a:p>
        </p:txBody>
      </p:sp>
      <p:pic>
        <p:nvPicPr>
          <p:cNvPr id="14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89020"/>
            <a:ext cx="173736" cy="1737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5707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renewal probability</a:t>
            </a:r>
            <a:endParaRPr lang="en-US" sz="1150" dirty="0"/>
          </a:p>
        </p:txBody>
      </p:sp>
      <p:pic>
        <p:nvPicPr>
          <p:cNvPr id="16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41064"/>
            <a:ext cx="173736" cy="1737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9227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incentive options</a:t>
            </a:r>
            <a:endParaRPr lang="en-US" sz="1150" dirty="0"/>
          </a:p>
        </p:txBody>
      </p:sp>
      <p:pic>
        <p:nvPicPr>
          <p:cNvPr id="18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93108"/>
            <a:ext cx="173736" cy="17373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42748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expected revenue</a:t>
            </a:r>
            <a:endParaRPr lang="en-US" sz="1150" dirty="0"/>
          </a:p>
        </p:txBody>
      </p:sp>
      <p:pic>
        <p:nvPicPr>
          <p:cNvPr id="20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645152"/>
            <a:ext cx="173736" cy="17373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4400" y="4626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recommendation as JSON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5623560" y="1508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Request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5623560" y="1810512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10143A"/>
          </a:solidFill>
          <a:ln/>
        </p:spPr>
      </p:sp>
      <p:sp>
        <p:nvSpPr>
          <p:cNvPr id="24" name="Text 15"/>
          <p:cNvSpPr/>
          <p:nvPr/>
        </p:nvSpPr>
        <p:spPr>
          <a:xfrm>
            <a:off x="5824728" y="1810512"/>
            <a:ext cx="5541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[[0.5, 12000, 500000, 1, 0, 0,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0.85, 10, "A", "Urban", 15000]]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623560" y="2999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5623560" y="3300984"/>
            <a:ext cx="5943600" cy="1188720"/>
          </a:xfrm>
          <a:prstGeom prst="roundRect">
            <a:avLst>
              <a:gd name="adj" fmla="val 6154"/>
            </a:avLst>
          </a:prstGeom>
          <a:solidFill>
            <a:srgbClr val="10143A"/>
          </a:solidFill>
          <a:ln/>
        </p:spPr>
      </p:sp>
      <p:sp>
        <p:nvSpPr>
          <p:cNvPr id="27" name="Text 18"/>
          <p:cNvSpPr/>
          <p:nvPr/>
        </p:nvSpPr>
        <p:spPr>
          <a:xfrm>
            <a:off x="5824728" y="3300984"/>
            <a:ext cx="5541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"Result": [{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"premium": 15000,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"revenue": 6200.5,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"incentive": 1500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56235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request / response — not live output.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pic>
        <p:nvPicPr>
          <p:cNvPr id="30" name="Image 7" descr="icons/plug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623560"/>
            <a:ext cx="365760" cy="36576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463040" y="5458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Endpoint</a:t>
            </a:r>
            <a:endParaRPr lang="en-US" sz="1050" dirty="0"/>
          </a:p>
        </p:txBody>
      </p:sp>
      <p:sp>
        <p:nvSpPr>
          <p:cNvPr id="32" name="Text 22">
            <a:hlinkClick r:id="rId9" tooltip=""/>
          </p:cNvPr>
          <p:cNvSpPr/>
          <p:nvPr/>
        </p:nvSpPr>
        <p:spPr>
          <a:xfrm>
            <a:off x="1463040" y="5696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https://insurance-incentive-prediction.onrender.com/predict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live application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web form collects policy details and instantly returns the recommended incentive and expected revenue.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09444"/>
            <a:ext cx="530352" cy="530352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icons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374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86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policy input form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409444"/>
            <a:ext cx="530352" cy="530352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1" name="Image 1" descr="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5374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286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prediction request to FastAPI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24612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3369564"/>
            <a:ext cx="530352" cy="530352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5" name="Image 2" descr="icons/rupe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4975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246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expected revenue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24612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92240" y="3369564"/>
            <a:ext cx="530352" cy="530352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9" name="Image 3" descr="icons/balan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4975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3246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recommended incentive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20624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14400" y="4329684"/>
            <a:ext cx="530352" cy="530352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3" name="Image 4" descr="icons/rock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4577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206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application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20624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92240" y="4329684"/>
            <a:ext cx="530352" cy="530352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7" name="Image 5" descr="icons/glob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45770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78040" y="4206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browser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40080" y="512064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EAF9F6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website preview is on the next page.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40080" y="5760720"/>
            <a:ext cx="532638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pic>
        <p:nvPicPr>
          <p:cNvPr id="32" name="Image 6" descr="icons/glob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879592"/>
            <a:ext cx="256032" cy="256032"/>
          </a:xfrm>
          <a:prstGeom prst="rect">
            <a:avLst/>
          </a:prstGeom>
        </p:spPr>
      </p:pic>
      <p:sp>
        <p:nvSpPr>
          <p:cNvPr id="33" name="Text 24">
            <a:hlinkClick r:id="rId8" tooltip=""/>
          </p:cNvPr>
          <p:cNvSpPr/>
          <p:nvPr/>
        </p:nvSpPr>
        <p:spPr>
          <a:xfrm>
            <a:off x="1207008" y="5760720"/>
            <a:ext cx="4777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insurance-incentive-prediction.vercel.app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195060" y="5760720"/>
            <a:ext cx="532638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pic>
        <p:nvPicPr>
          <p:cNvPr id="35" name="Image 7" descr="icons/plug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6228" y="5879592"/>
            <a:ext cx="256032" cy="256032"/>
          </a:xfrm>
          <a:prstGeom prst="rect">
            <a:avLst/>
          </a:prstGeom>
        </p:spPr>
      </p:pic>
      <p:sp>
        <p:nvSpPr>
          <p:cNvPr id="36" name="Text 26">
            <a:hlinkClick r:id="rId10" tooltip=""/>
          </p:cNvPr>
          <p:cNvSpPr/>
          <p:nvPr/>
        </p:nvSpPr>
        <p:spPr>
          <a:xfrm>
            <a:off x="6761988" y="5760720"/>
            <a:ext cx="4594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insurance-incentive-prediction.onrender.com/predict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bsite_preview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940" y="0"/>
            <a:ext cx="96570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production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deployed, end-to-end ML application — frontend and backend communicate over REST with CORS enabled.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90928" y="2350008"/>
            <a:ext cx="512064" cy="512064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icon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656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71800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26440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served as the live site.</a:t>
            </a:r>
            <a:endParaRPr lang="en-US" sz="900" dirty="0"/>
          </a:p>
        </p:txBody>
      </p:sp>
      <p:pic>
        <p:nvPicPr>
          <p:cNvPr id="11" name="Image 1" descr="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272" y="2944368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73880" y="214884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EAF9F6"/>
          </a:solidFill>
          <a:ln w="13970">
            <a:solidFill>
              <a:srgbClr val="00C2A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24728" y="2350008"/>
            <a:ext cx="512064" cy="51206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24597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11040" y="2971800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11040" y="326440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CORS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56760" y="3520440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communicate over a CORS-enabled REST API.</a:t>
            </a:r>
            <a:endParaRPr lang="en-US" sz="900" dirty="0"/>
          </a:p>
        </p:txBody>
      </p:sp>
      <p:pic>
        <p:nvPicPr>
          <p:cNvPr id="18" name="Image 3" descr="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072" y="2944368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107680" y="214884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558528" y="2350008"/>
            <a:ext cx="512064" cy="512064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1" name="Image 4" descr="icons/serv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256" y="245973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4840" y="2971800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244840" y="326440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8290560" y="3520440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hosting the /predict endpoint.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400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Artifacts Loaded by the Backend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0080" y="47548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pic>
        <p:nvPicPr>
          <p:cNvPr id="27" name="Image 5" descr="icons/databas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6460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Parth_Imputer.pkl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977640" y="47548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pic>
        <p:nvPicPr>
          <p:cNvPr id="30" name="Image 6" descr="icons/databas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486460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48056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renewal_pipeline.pkl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40080" y="5486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working end-to-end ML application — not positioned as enterprise production infrastructure.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learnings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6" name="Image 0" descr="icons/balanc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700" dirty="0"/>
          </a:p>
        </p:txBody>
      </p:sp>
      <p:pic>
        <p:nvPicPr>
          <p:cNvPr id="8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059811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743200"/>
            <a:ext cx="4343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policy benefits from an agent incentive.</a:t>
            </a:r>
            <a:endParaRPr lang="en-US" sz="1150" dirty="0"/>
          </a:p>
        </p:txBody>
      </p:sp>
      <p:pic>
        <p:nvPicPr>
          <p:cNvPr id="10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94201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3577590"/>
            <a:ext cx="4343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incentives vary based on premium and renewal risk.</a:t>
            </a:r>
            <a:endParaRPr lang="en-US" sz="1150" dirty="0"/>
          </a:p>
        </p:txBody>
      </p:sp>
      <p:pic>
        <p:nvPicPr>
          <p:cNvPr id="12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28591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1872" y="4411980"/>
            <a:ext cx="4343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cost must be balanced against expected renewal revenue.</a:t>
            </a:r>
            <a:endParaRPr lang="en-US" sz="1150" dirty="0"/>
          </a:p>
        </p:txBody>
      </p:sp>
      <p:pic>
        <p:nvPicPr>
          <p:cNvPr id="14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562981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1872" y="5246370"/>
            <a:ext cx="4343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Diminishing-return behavior offers a simple way to model agent effort.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6263640" y="169164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889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537960" y="1965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8" name="Image 5" descr="icons/cod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2112264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69480" y="1984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Learnings</a:t>
            </a:r>
            <a:endParaRPr lang="en-US" sz="1700" dirty="0"/>
          </a:p>
        </p:txBody>
      </p:sp>
      <p:pic>
        <p:nvPicPr>
          <p:cNvPr id="20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881013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85432" y="2743200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end-to-end ML inference pipeline</a:t>
            </a:r>
            <a:endParaRPr lang="en-US" sz="1150" dirty="0"/>
          </a:p>
        </p:txBody>
      </p:sp>
      <p:pic>
        <p:nvPicPr>
          <p:cNvPr id="22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357807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85432" y="3219994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 with joblib</a:t>
            </a:r>
            <a:endParaRPr lang="en-US" sz="1150" dirty="0"/>
          </a:p>
        </p:txBody>
      </p:sp>
      <p:pic>
        <p:nvPicPr>
          <p:cNvPr id="24" name="Image 8" descr="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834602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85432" y="3696789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API development</a:t>
            </a:r>
            <a:endParaRPr lang="en-US" sz="1150" dirty="0"/>
          </a:p>
        </p:txBody>
      </p:sp>
      <p:pic>
        <p:nvPicPr>
          <p:cNvPr id="26" name="Image 9" descr="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4311396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85432" y="4173583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150" dirty="0"/>
          </a:p>
        </p:txBody>
      </p:sp>
      <p:pic>
        <p:nvPicPr>
          <p:cNvPr id="28" name="Image 10" descr="icons/check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248" y="4788190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885432" y="4650377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integration</a:t>
            </a:r>
            <a:endParaRPr lang="en-US" sz="1150" dirty="0"/>
          </a:p>
        </p:txBody>
      </p:sp>
      <p:pic>
        <p:nvPicPr>
          <p:cNvPr id="30" name="Image 11" descr="icons/check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6248" y="5264985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85432" y="5127171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using Render and Vercel</a:t>
            </a:r>
            <a:endParaRPr lang="en-US" sz="1150" dirty="0"/>
          </a:p>
        </p:txBody>
      </p:sp>
      <p:pic>
        <p:nvPicPr>
          <p:cNvPr id="32" name="Image 12" descr="icons/check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6248" y="5741779"/>
            <a:ext cx="201168" cy="20116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85432" y="5603966"/>
            <a:ext cx="43434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ML predictions with business optimization</a:t>
            </a:r>
            <a:endParaRPr lang="en-US" sz="1150" dirty="0"/>
          </a:p>
        </p:txBody>
      </p:sp>
      <p:sp>
        <p:nvSpPr>
          <p:cNvPr id="34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Incentive Prediction</a:t>
            </a:r>
            <a:endParaRPr lang="en-US" sz="900" dirty="0"/>
          </a:p>
        </p:txBody>
      </p:sp>
      <p:sp>
        <p:nvSpPr>
          <p:cNvPr id="35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26380" cy="621792"/>
          </a:xfrm>
          <a:prstGeom prst="roundRect">
            <a:avLst>
              <a:gd name="adj" fmla="val 1176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6" name="Image 0" descr="icons/uploa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276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63040"/>
            <a:ext cx="45491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batch upload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5060" y="1463040"/>
            <a:ext cx="5326380" cy="621792"/>
          </a:xfrm>
          <a:prstGeom prst="roundRect">
            <a:avLst>
              <a:gd name="adj" fmla="val 1176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9" name="Image 1" descr="icons/gaug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162763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9420" y="1463040"/>
            <a:ext cx="45491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ML models instead of per-request loading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221992"/>
            <a:ext cx="5326380" cy="621792"/>
          </a:xfrm>
          <a:prstGeom prst="roundRect">
            <a:avLst>
              <a:gd name="adj" fmla="val 1176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12" name="Image 2" descr="icons/lo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8658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221992"/>
            <a:ext cx="45491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API rate limiting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95060" y="2221992"/>
            <a:ext cx="5326380" cy="621792"/>
          </a:xfrm>
          <a:prstGeom prst="roundRect">
            <a:avLst>
              <a:gd name="adj" fmla="val 1176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15" name="Image 3" descr="icons/char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38658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89420" y="2221992"/>
            <a:ext cx="45491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charts for incentive recommendations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2980944"/>
            <a:ext cx="5326380" cy="621792"/>
          </a:xfrm>
          <a:prstGeom prst="roundRect">
            <a:avLst>
              <a:gd name="adj" fmla="val 1176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18" name="Image 4" descr="icons/puzzl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4553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2980944"/>
            <a:ext cx="45491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optimization strategies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195060" y="2980944"/>
            <a:ext cx="5326380" cy="621792"/>
          </a:xfrm>
          <a:prstGeom prst="roundRect">
            <a:avLst>
              <a:gd name="adj" fmla="val 1176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21" name="Image 5" descr="icons/bol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14553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89420" y="2980944"/>
            <a:ext cx="45491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&amp; performance tracking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640080" y="3913632"/>
            <a:ext cx="10881360" cy="0"/>
          </a:xfrm>
          <a:prstGeom prst="line">
            <a:avLst/>
          </a:prstGeom>
          <a:noFill/>
          <a:ln w="12700">
            <a:solidFill>
              <a:srgbClr val="323A8E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4008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APPLICATION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40080" y="4425696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26" name="Image 6" descr="icons/glob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52628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280160" y="44256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28" name="Text 19">
            <a:hlinkClick r:id="rId8" tooltip=""/>
          </p:cNvPr>
          <p:cNvSpPr/>
          <p:nvPr/>
        </p:nvSpPr>
        <p:spPr>
          <a:xfrm>
            <a:off x="2651760" y="442569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insurance-incentive-prediction.vercel.app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40080" y="4992624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30" name="Image 7" descr="icons/plug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093208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80160" y="49926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32" name="Text 22">
            <a:hlinkClick r:id="rId10" tooltip=""/>
          </p:cNvPr>
          <p:cNvSpPr/>
          <p:nvPr/>
        </p:nvSpPr>
        <p:spPr>
          <a:xfrm>
            <a:off x="2651760" y="4992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insurance-incentive-prediction.onrender.com/predict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40080" y="5559552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161C4A"/>
          </a:solidFill>
          <a:ln w="9525">
            <a:solidFill>
              <a:srgbClr val="323A8E"/>
            </a:solidFill>
            <a:prstDash val="solid"/>
          </a:ln>
        </p:spPr>
      </p:sp>
      <p:pic>
        <p:nvPicPr>
          <p:cNvPr id="34" name="Image 8" descr="icons/github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" y="5660136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280160" y="55595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36" name="Text 25">
            <a:hlinkClick r:id="rId12" tooltip=""/>
          </p:cNvPr>
          <p:cNvSpPr/>
          <p:nvPr/>
        </p:nvSpPr>
        <p:spPr>
          <a:xfrm>
            <a:off x="2651760" y="55595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github.com/Rider-04/Insurance_incentive_prediction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64008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Sharma  —  Insurance Incentive Prediction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2026-09-02T05:23:48Z</dcterms:created>
  <dcterms:modified xsi:type="dcterms:W3CDTF">2026-09-02T05:23:48Z</dcterms:modified>
</cp:coreProperties>
</file>